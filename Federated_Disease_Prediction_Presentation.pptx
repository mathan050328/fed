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ACADEMIC FINAL-YEAR CAPSTONE PROJECT</a:t>
            </a:r>
          </a:p>
          <a:p>
            <a:pPr>
              <a:spcBef>
                <a:spcPts val="1200"/>
              </a:spcBef>
              <a:defRPr sz="3600" b="1">
                <a:solidFill>
                  <a:srgbClr val="FFFFFF"/>
                </a:solidFill>
              </a:defRPr>
            </a:pPr>
            <a:r>
              <a:t>Multi-Disease Federated Learning</a:t>
            </a:r>
            <a:br/>
            <a:r>
              <a:t>Prediction Platform</a:t>
            </a:r>
          </a:p>
          <a:p>
            <a:pPr>
              <a:spcBef>
                <a:spcPts val="1400"/>
              </a:spcBef>
              <a:defRPr sz="1600">
                <a:solidFill>
                  <a:srgbClr val="CBD5E1"/>
                </a:solidFill>
              </a:defRPr>
            </a:pPr>
            <a:r>
              <a:t>Collaborative Diagnosis for Heart Disease, Diabetes, and CKD across Hospitals A, B, and 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MULTI-DISEASE FEDERATED LEARNING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Problem Statement: Siloed Healthcare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A365D"/>
                </a:solidFill>
              </a:defRPr>
            </a:pPr>
            <a:r>
              <a:t>Centralized Healthcare Bottlenecks</a:t>
            </a:r>
          </a:p>
          <a:p>
            <a:pPr>
              <a:spcBef>
                <a:spcPts val="1200"/>
              </a:spcBef>
              <a:defRPr sz="1300"/>
            </a:pPr>
            <a:r>
              <a:t>• Multiple Clinical Silos: Hospitals treat diverse diseases but cannot pool records due to HIPAA/GDPR.</a:t>
            </a:r>
          </a:p>
          <a:p>
            <a:pPr>
              <a:spcBef>
                <a:spcPts val="1200"/>
              </a:spcBef>
              <a:defRPr sz="1300"/>
            </a:pPr>
            <a:r>
              <a:t>• Single-Disease Narrow Focus: Existing AI systems often only predict one disease, requiring redundant infrastructure.</a:t>
            </a:r>
          </a:p>
          <a:p>
            <a:pPr>
              <a:spcBef>
                <a:spcPts val="1200"/>
              </a:spcBef>
              <a:defRPr sz="1300"/>
            </a:pPr>
            <a:r>
              <a:t>• Central Warehouse Security Threat: Merging cardiology, endocrinology, and nephrology records creates a massive attack vector.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E7490"/>
                </a:solidFill>
              </a:defRPr>
            </a:pPr>
            <a:r>
              <a:t>Multi-Disease Federated Architecture</a:t>
            </a:r>
          </a:p>
          <a:p>
            <a:pPr>
              <a:spcBef>
                <a:spcPts val="1200"/>
              </a:spcBef>
              <a:defRPr sz="1300"/>
            </a:pPr>
            <a:r>
              <a:t>✔ Local Multi-Disease DBs: Hospital A, B, and C keep Heart, Diabetes, and CKD data in strictly isolated local databases.</a:t>
            </a:r>
          </a:p>
          <a:p>
            <a:pPr>
              <a:spcBef>
                <a:spcPts val="1200"/>
              </a:spcBef>
              <a:defRPr sz="1300"/>
            </a:pPr>
            <a:r>
              <a:t>✔ Independent Local Optimization: Each hospital trains local models for each disease domain separately.</a:t>
            </a:r>
          </a:p>
          <a:p>
            <a:pPr>
              <a:spcBef>
                <a:spcPts val="1200"/>
              </a:spcBef>
              <a:defRPr sz="1300"/>
            </a:pPr>
            <a:r>
              <a:t>✔ Model Updates Only: Transmits abstract parameter weights (coef_, intercept_) to central Flower coordinator.</a:t>
            </a:r>
          </a:p>
          <a:p>
            <a:pPr>
              <a:spcBef>
                <a:spcPts val="1200"/>
              </a:spcBef>
              <a:defRPr sz="1300"/>
            </a:pPr>
            <a:r>
              <a:t>✔ Unified Healthcare UI: Single clinical dashboard supporting disease selection, prediction, and feature explanations.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MULTI-DISEASE FEDERATED LEARNING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System Topology: Federated Server &amp; Hospital Nodes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371600"/>
            <a:ext cx="5577840" cy="10058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0" y="1417320"/>
            <a:ext cx="52120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A365D"/>
                </a:solidFill>
              </a:defRPr>
            </a:pPr>
            <a:r>
              <a:t>FEDERATED SERVER</a:t>
            </a:r>
          </a:p>
          <a:p>
            <a:pPr algn="ctr">
              <a:defRPr sz="1100">
                <a:solidFill>
                  <a:srgbClr val="334155"/>
                </a:solidFill>
              </a:defRPr>
            </a:pPr>
            <a:r>
              <a:t>Flower Coordinator | FedAvg | Model Registry | Training Monitor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3017520" cy="128016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4320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HOSPITAL A</a:t>
            </a:r>
          </a:p>
          <a:p>
            <a:pPr algn="ctr">
              <a:defRPr sz="1050">
                <a:solidFill>
                  <a:srgbClr val="334155"/>
                </a:solidFill>
              </a:defRPr>
            </a:pPr>
            <a:r>
              <a:t>Local DB: Heart, Diabetes, CKD</a:t>
            </a:r>
            <a:br/>
            <a:r>
              <a:t>Local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651760"/>
            <a:ext cx="3017520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74320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HOSPITAL B</a:t>
            </a:r>
          </a:p>
          <a:p>
            <a:pPr algn="ctr">
              <a:defRPr sz="1050">
                <a:solidFill>
                  <a:srgbClr val="334155"/>
                </a:solidFill>
              </a:defRPr>
            </a:pPr>
            <a:r>
              <a:t>Local DB: Heart, Diabetes, CKD</a:t>
            </a:r>
            <a:br/>
            <a:r>
              <a:t>Local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651760"/>
            <a:ext cx="3017520" cy="1280160"/>
          </a:xfrm>
          <a:prstGeom prst="roundRect">
            <a:avLst/>
          </a:prstGeom>
          <a:solidFill>
            <a:srgbClr val="FCE7F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2743200"/>
            <a:ext cx="2834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HOSPITAL C</a:t>
            </a:r>
          </a:p>
          <a:p>
            <a:pPr algn="ctr">
              <a:defRPr sz="1050">
                <a:solidFill>
                  <a:srgbClr val="334155"/>
                </a:solidFill>
              </a:defRPr>
            </a:pPr>
            <a:r>
              <a:t>Local DB: Heart, Diabetes, CKD</a:t>
            </a:r>
            <a:br/>
            <a:r>
              <a:t>Local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E7490"/>
                </a:solidFill>
              </a:defRPr>
            </a:pPr>
            <a:r>
              <a:t>⬇ [ MODEL UPDATES ONLY ] ⬇  [ FEDERATED AGGREGATION via FedAvg ]  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4663440"/>
            <a:ext cx="7589520" cy="91440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4709160"/>
            <a:ext cx="7223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A365D"/>
                </a:solidFill>
              </a:defRPr>
            </a:pPr>
            <a:r>
              <a:t>GLOBAL MODELS REGISTRY</a:t>
            </a:r>
          </a:p>
          <a:p>
            <a:pPr algn="ctr">
              <a:defRPr sz="1100"/>
            </a:pPr>
            <a:r>
              <a:t>Heart Disease Model (85.25%) | Diabetes Model (71.43%) | CKD Model (95.00%)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5715000"/>
            <a:ext cx="7589520" cy="731520"/>
          </a:xfrm>
          <a:prstGeom prst="roundRect">
            <a:avLst/>
          </a:prstGeom>
          <a:solidFill>
            <a:srgbClr val="FEF9C3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5760720"/>
            <a:ext cx="72237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A365D"/>
                </a:solidFill>
              </a:defRPr>
            </a:pPr>
            <a:r>
              <a:t>AI HEALTHCARE UI</a:t>
            </a:r>
          </a:p>
          <a:p>
            <a:pPr algn="ctr">
              <a:defRPr sz="1050"/>
            </a:pPr>
            <a:r>
              <a:t>Disease Selection | Patient Input | Prediction | Risk Probability | Explanation | Model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MULTI-DISEASE FEDERATED LEARNING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Multi-Disease Clinical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017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6517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365D"/>
                </a:solidFill>
              </a:defRPr>
            </a:pPr>
            <a:r>
              <a:t>🫀 Heart Disease</a:t>
            </a:r>
          </a:p>
          <a:p>
            <a:pPr>
              <a:spcBef>
                <a:spcPts val="1400"/>
              </a:spcBef>
              <a:defRPr sz="1250">
                <a:solidFill>
                  <a:srgbClr val="334155"/>
                </a:solidFill>
              </a:defRPr>
            </a:pPr>
            <a:r>
              <a:t>303 Patient Records</a:t>
            </a:r>
            <a:br/>
            <a:r>
              <a:t>13 Clinical Features</a:t>
            </a:r>
            <a:br/>
            <a:r>
              <a:t>Binary Risk (0/1)</a:t>
            </a:r>
            <a:br/>
            <a:r>
              <a:t>Key: ST Depression, Chest Pain, Cholesterol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463040"/>
            <a:ext cx="3017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26517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365D"/>
                </a:solidFill>
              </a:defRPr>
            </a:pPr>
            <a:r>
              <a:t>🩸 Diabetes</a:t>
            </a:r>
          </a:p>
          <a:p>
            <a:pPr>
              <a:spcBef>
                <a:spcPts val="1400"/>
              </a:spcBef>
              <a:defRPr sz="1250">
                <a:solidFill>
                  <a:srgbClr val="334155"/>
                </a:solidFill>
              </a:defRPr>
            </a:pPr>
            <a:r>
              <a:t>768 Patient Records</a:t>
            </a:r>
            <a:br/>
            <a:r>
              <a:t>8 Clinical Features</a:t>
            </a:r>
            <a:br/>
            <a:r>
              <a:t>Binary Risk (0/1)</a:t>
            </a:r>
            <a:br/>
            <a:r>
              <a:t>Key: Glucose, Insulin, BMI, Pedigree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30175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1645920"/>
            <a:ext cx="2651760" cy="3931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A365D"/>
                </a:solidFill>
              </a:defRPr>
            </a:pPr>
            <a:r>
              <a:t>🩺 Chronic Kidney Disease</a:t>
            </a:r>
          </a:p>
          <a:p>
            <a:pPr>
              <a:spcBef>
                <a:spcPts val="1400"/>
              </a:spcBef>
              <a:defRPr sz="1250">
                <a:solidFill>
                  <a:srgbClr val="334155"/>
                </a:solidFill>
              </a:defRPr>
            </a:pPr>
            <a:r>
              <a:t>400 Patient Records</a:t>
            </a:r>
            <a:br/>
            <a:r>
              <a:t>20 Clinical Features</a:t>
            </a:r>
            <a:br/>
            <a:r>
              <a:t>Binary Risk (0/1)</a:t>
            </a:r>
            <a:br/>
            <a:r>
              <a:t>Key: Serum Creatinine, Albumin, Urea, Hemoglobin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MULTI-DISEASE FEDERATED LEARNING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Multi-Disease Experimental Results: Centralized vs Federated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645920"/>
                <a:gridCol w="1645920"/>
                <a:gridCol w="1645920"/>
                <a:gridCol w="1645920"/>
                <a:gridCol w="1828800"/>
              </a:tblGrid>
              <a:tr h="658368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Disease Domain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Centralized Acc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Federated Acc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Centralized AUC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Federated AUC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Privacy Status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Heart Disease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86.89%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85.25%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0.9102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0.8950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 Records 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Diabetes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71.43%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71.43%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0.8230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0.8241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 Records Shared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Chronic Kidney Disease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97.50%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95.00%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0.9901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1.0000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4155"/>
                          </a:solidFill>
                        </a:defRPr>
                      </a:pPr>
                      <a:r>
                        <a:t>0 Records Shared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AVERAGE OVERALL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85.27%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83.89%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0.9078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0.9064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34155"/>
                          </a:solidFill>
                        </a:defRPr>
                      </a:pPr>
                      <a:r>
                        <a:t>100% Data Decentralized</a:t>
                      </a:r>
                    </a:p>
                  </a:txBody>
                  <a:tcPr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E7490"/>
                </a:solidFill>
              </a:defRPr>
            </a:pPr>
            <a:r>
              <a:t>Key Multi-Disease Finding: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Across all three diverse clinical domains (Cardiology, Endocrinology, and Nephrology), Federated Learning achieved comparable diagnostic discrimination (90.64% average ROC-AUC vs 90.78% centralized) with ZERO raw patient records leaving Hospital A, B, or 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7490"/>
                </a:solidFill>
              </a:defRPr>
            </a:pPr>
            <a:r>
              <a:t>MULTI-DISEASE FEDERATED LEARNING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365D"/>
                </a:solidFill>
              </a:defRPr>
            </a:pPr>
            <a:r>
              <a:t>AI Healthcare UI &amp; Feature Explainability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Disease Selection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Seamless switching between Heart Disease, Diabetes, and Chronic Kidney Disease.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46304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Dynamic Patient Input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Interactive forms adapted to the specific clinical parameters of the selected domain.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Risk Probability Output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Real-time probability gauge with clinical risk classification alerts.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463040"/>
            <a:ext cx="24688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45920"/>
            <a:ext cx="21945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A365D"/>
                </a:solidFill>
              </a:defRPr>
            </a:pPr>
            <a:r>
              <a:t>Model Explanation</a:t>
            </a:r>
          </a:p>
          <a:p>
            <a:pPr>
              <a:spcBef>
                <a:spcPts val="1000"/>
              </a:spcBef>
              <a:defRPr sz="1150">
                <a:solidFill>
                  <a:srgbClr val="334155"/>
                </a:solidFill>
              </a:defRPr>
            </a:pPr>
            <a:r>
              <a:t>Biomarker contribution analysis highlighting top clinical risk drivers (odds ratios).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058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SUMMARY &amp; CONCLUSION</a:t>
            </a:r>
          </a:p>
          <a:p>
            <a:pPr>
              <a:spcBef>
                <a:spcPts val="800"/>
              </a:spcBef>
              <a:defRPr sz="3000" b="1">
                <a:solidFill>
                  <a:srgbClr val="FFFFFF"/>
                </a:solidFill>
              </a:defRPr>
            </a:pPr>
            <a:r>
              <a:t>Multi-Disease Federated Learning Validated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✔  3 Medical Conditions: Successfully deployed and registered global models for Heart Disease, Diabetes, and CKD.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✔  3 Hospital Partitions: Isolated local databases for Hospital A, B, and C with zero cross-institutional data sharing.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✔  Flower + FedAvg: Robust orchestration across 5 communication rounds achieving high ROC-AUC (89.5% Heart, 82.4% Diabetes, 100% CKD).</a:t>
            </a:r>
          </a:p>
          <a:p>
            <a:pPr>
              <a:spcBef>
                <a:spcPts val="1200"/>
              </a:spcBef>
              <a:defRPr sz="1400">
                <a:solidFill>
                  <a:srgbClr val="E2E8F0"/>
                </a:solidFill>
              </a:defRPr>
            </a:pPr>
            <a:r>
              <a:t>✔  Clinical AI UI: End-to-end web dashboard featuring disease switching, risk prediction, explanation, and model registry.</a:t>
            </a:r>
          </a:p>
          <a:p>
            <a:pPr>
              <a:spcBef>
                <a:spcPts val="2400"/>
              </a:spcBef>
              <a:defRPr sz="2000" b="1">
                <a:solidFill>
                  <a:srgbClr val="38BDF8"/>
                </a:solidFill>
              </a:defRPr>
            </a:pPr>
            <a:r>
              <a:t>Thank You!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